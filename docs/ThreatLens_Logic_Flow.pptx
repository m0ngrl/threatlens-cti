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263B"/>
                </a:solidFill>
                <a:latin typeface="Calibri"/>
              </a:rPr>
              <a:t>ThreatLens — Logic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960120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Calibri"/>
              </a:rPr>
              <a:t>CTI report ingestion → IoC extraction &amp; verification → quality assessment (pure) → persisted, flagged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82880"/>
            <a:ext cx="2953512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B5563"/>
                </a:solidFill>
                <a:latin typeface="Calibri"/>
              </a:rPr>
              <a:t>ZEIT3118 Capstone · UNSW Canberra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1727149" cy="960120"/>
          </a:xfrm>
          <a:prstGeom prst="roundRect">
            <a:avLst>
              <a:gd name="adj" fmla="val 8000"/>
            </a:avLst>
          </a:prstGeom>
          <a:solidFill>
            <a:srgbClr val="E9F1F8"/>
          </a:solidFill>
          <a:ln w="15875">
            <a:solidFill>
              <a:srgbClr val="2A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2A5C8A"/>
                </a:solidFill>
                <a:latin typeface="Calibri"/>
              </a:rPr>
              <a:t>1  CTI Report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50" b="0">
                <a:solidFill>
                  <a:srgbClr val="222B3D"/>
                </a:solidFill>
                <a:latin typeface="Calibri"/>
              </a:rPr>
              <a:t>PDF / TXT ingest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50" b="0">
                <a:solidFill>
                  <a:srgbClr val="222B3D"/>
                </a:solidFill>
                <a:latin typeface="Calibri"/>
              </a:rPr>
              <a:t>+ metadata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9797" y="1234440"/>
            <a:ext cx="1727149" cy="960120"/>
          </a:xfrm>
          <a:prstGeom prst="roundRect">
            <a:avLst>
              <a:gd name="adj" fmla="val 8000"/>
            </a:avLst>
          </a:prstGeom>
          <a:solidFill>
            <a:srgbClr val="E9F1F8"/>
          </a:solidFill>
          <a:ln w="15875">
            <a:solidFill>
              <a:srgbClr val="2A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2A5C8A"/>
                </a:solidFill>
                <a:latin typeface="Calibri"/>
              </a:rPr>
              <a:t>2  Extraction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50" b="0">
                <a:solidFill>
                  <a:srgbClr val="222B3D"/>
                </a:solidFill>
                <a:latin typeface="Calibri"/>
              </a:rPr>
              <a:t>CTIExtractor — regex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50" b="0">
                <a:solidFill>
                  <a:srgbClr val="222B3D"/>
                </a:solidFill>
                <a:latin typeface="Calibri"/>
              </a:rPr>
              <a:t>candidates (IoCs +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50" b="0">
                <a:solidFill>
                  <a:srgbClr val="222B3D"/>
                </a:solidFill>
                <a:latin typeface="Calibri"/>
              </a:rPr>
              <a:t>context entities)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8114" y="1234440"/>
            <a:ext cx="1727149" cy="960120"/>
          </a:xfrm>
          <a:prstGeom prst="roundRect">
            <a:avLst>
              <a:gd name="adj" fmla="val 8000"/>
            </a:avLst>
          </a:prstGeom>
          <a:solidFill>
            <a:srgbClr val="E9F1F8"/>
          </a:solidFill>
          <a:ln w="15875">
            <a:solidFill>
              <a:srgbClr val="2A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2A5C8A"/>
                </a:solidFill>
                <a:latin typeface="Calibri"/>
              </a:rPr>
              <a:t>3  Verification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50" b="0">
                <a:solidFill>
                  <a:srgbClr val="222B3D"/>
                </a:solidFill>
                <a:latin typeface="Calibri"/>
              </a:rPr>
              <a:t>LLM (Ollama qwen3.5:4b,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50" b="0">
                <a:solidFill>
                  <a:srgbClr val="222B3D"/>
                </a:solidFill>
                <a:latin typeface="Calibri"/>
              </a:rPr>
              <a:t>calibrated) or Python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50" b="0">
                <a:solidFill>
                  <a:srgbClr val="222B3D"/>
                </a:solidFill>
                <a:latin typeface="Calibri"/>
              </a:rPr>
              <a:t>heuristics classify each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50" b="0">
                <a:solidFill>
                  <a:srgbClr val="222B3D"/>
                </a:solidFill>
                <a:latin typeface="Calibri"/>
              </a:rPr>
              <a:t>candidate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1" y="1234440"/>
            <a:ext cx="1727149" cy="96012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15875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1F7A6C"/>
                </a:solidFill>
                <a:latin typeface="Calibri"/>
              </a:rPr>
              <a:t>4  Quality Checker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50" b="0">
                <a:solidFill>
                  <a:srgbClr val="222B3D"/>
                </a:solidFill>
                <a:latin typeface="Calibri"/>
              </a:rPr>
              <a:t>check_report() — pure,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50" b="0">
                <a:solidFill>
                  <a:srgbClr val="222B3D"/>
                </a:solidFill>
                <a:latin typeface="Calibri"/>
              </a:rPr>
              <a:t>4 layers on extraction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50" b="0">
                <a:solidFill>
                  <a:srgbClr val="222B3D"/>
                </a:solidFill>
                <a:latin typeface="Calibri"/>
              </a:rPr>
              <a:t>JSON, no DB touched yet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4748" y="1234440"/>
            <a:ext cx="1727149" cy="960120"/>
          </a:xfrm>
          <a:prstGeom prst="roundRect">
            <a:avLst>
              <a:gd name="adj" fmla="val 8000"/>
            </a:avLst>
          </a:prstGeom>
          <a:solidFill>
            <a:srgbClr val="FBF2E2"/>
          </a:solidFill>
          <a:ln w="15875">
            <a:solidFill>
              <a:srgbClr val="B0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B07A1E"/>
                </a:solidFill>
                <a:latin typeface="Calibri"/>
              </a:rPr>
              <a:t>5  Ingest / Persist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50" b="0">
                <a:solidFill>
                  <a:srgbClr val="222B3D"/>
                </a:solidFill>
                <a:latin typeface="Calibri"/>
              </a:rPr>
              <a:t>persist_report() — dedup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50" b="0">
                <a:solidFill>
                  <a:srgbClr val="222B3D"/>
                </a:solidFill>
                <a:latin typeface="Calibri"/>
              </a:rPr>
              <a:t>+ write scored rows to DB,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50" b="0">
                <a:solidFill>
                  <a:srgbClr val="222B3D"/>
                </a:solidFill>
                <a:latin typeface="Calibri"/>
              </a:rPr>
              <a:t>then raise quality_flags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3066" y="1234440"/>
            <a:ext cx="1727149" cy="960120"/>
          </a:xfrm>
          <a:prstGeom prst="roundRect">
            <a:avLst>
              <a:gd name="adj" fmla="val 8000"/>
            </a:avLst>
          </a:prstGeom>
          <a:solidFill>
            <a:srgbClr val="FBF2E2"/>
          </a:solidFill>
          <a:ln w="15875">
            <a:solidFill>
              <a:srgbClr val="B0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B07A1E"/>
                </a:solidFill>
                <a:latin typeface="Calibri"/>
              </a:rPr>
              <a:t>6  Output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50" b="0">
                <a:solidFill>
                  <a:srgbClr val="222B3D"/>
                </a:solidFill>
                <a:latin typeface="Calibri"/>
              </a:rPr>
              <a:t>Flagged, scored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50" b="0">
                <a:solidFill>
                  <a:srgbClr val="222B3D"/>
                </a:solidFill>
                <a:latin typeface="Calibri"/>
              </a:rPr>
              <a:t>indicators in DB —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50" b="0">
                <a:solidFill>
                  <a:srgbClr val="222B3D"/>
                </a:solidFill>
                <a:latin typeface="Calibri"/>
              </a:rPr>
              <a:t>ready for dashboard / export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38629" y="1714500"/>
            <a:ext cx="201168" cy="0"/>
          </a:xfrm>
          <a:prstGeom prst="line">
            <a:avLst/>
          </a:prstGeom>
          <a:ln w="2222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066946" y="1714500"/>
            <a:ext cx="201168" cy="0"/>
          </a:xfrm>
          <a:prstGeom prst="line">
            <a:avLst/>
          </a:prstGeom>
          <a:ln w="2222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95263" y="1714500"/>
            <a:ext cx="201168" cy="0"/>
          </a:xfrm>
          <a:prstGeom prst="line">
            <a:avLst/>
          </a:prstGeom>
          <a:ln w="2222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23580" y="1714500"/>
            <a:ext cx="201168" cy="0"/>
          </a:xfrm>
          <a:prstGeom prst="line">
            <a:avLst/>
          </a:prstGeom>
          <a:ln w="2222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851898" y="1714500"/>
            <a:ext cx="201168" cy="0"/>
          </a:xfrm>
          <a:prstGeom prst="line">
            <a:avLst/>
          </a:prstGeom>
          <a:ln w="2222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060006" y="2194560"/>
            <a:ext cx="0" cy="521208"/>
          </a:xfrm>
          <a:prstGeom prst="line">
            <a:avLst/>
          </a:prstGeom>
          <a:ln w="15875">
            <a:solidFill>
              <a:srgbClr val="C7CED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988323" y="2194560"/>
            <a:ext cx="0" cy="521208"/>
          </a:xfrm>
          <a:prstGeom prst="line">
            <a:avLst/>
          </a:prstGeom>
          <a:ln w="15875">
            <a:solidFill>
              <a:srgbClr val="C7CED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11480" y="2880360"/>
            <a:ext cx="11368735" cy="32461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136391"/>
            <a:ext cx="69494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7A6C"/>
                </a:solidFill>
                <a:latin typeface="Calibri"/>
              </a:rPr>
              <a:t>Quality Checker — 4 layers, pure function over extraction JSON (answers the client's 3 named issues)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83863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12700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5400" bIns="25400"/>
          <a:lstStyle/>
          <a:p>
            <a:pPr algn="l"/>
            <a:r>
              <a:rPr sz="1050" b="1">
                <a:solidFill>
                  <a:srgbClr val="1F7A6C"/>
                </a:solidFill>
                <a:latin typeface="Calibri"/>
              </a:rPr>
              <a:t>Layer 1 — Structural rejection</a:t>
            </a:r>
          </a:p>
          <a:p>
            <a:pPr algn="l"/>
            <a:r>
              <a:rPr sz="900" b="0">
                <a:solidFill>
                  <a:srgbClr val="222B3D"/>
                </a:solidFill>
                <a:latin typeface="Calibri"/>
              </a:rPr>
              <a:t>Span overlap, nested values, sentence fragments, self-reference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60520" y="3941063"/>
            <a:ext cx="0" cy="109728"/>
          </a:xfrm>
          <a:prstGeom prst="line">
            <a:avLst/>
          </a:prstGeom>
          <a:ln w="15875">
            <a:solidFill>
              <a:srgbClr val="1F7A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5800" y="4032503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12700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5400" bIns="25400"/>
          <a:lstStyle/>
          <a:p>
            <a:pPr algn="l"/>
            <a:r>
              <a:rPr sz="1050" b="1">
                <a:solidFill>
                  <a:srgbClr val="1F7A6C"/>
                </a:solidFill>
                <a:latin typeface="Calibri"/>
              </a:rPr>
              <a:t>Layer 2 — STIX conformance</a:t>
            </a:r>
          </a:p>
          <a:p>
            <a:pPr algn="l"/>
            <a:r>
              <a:rPr sz="900" b="0">
                <a:solidFill>
                  <a:srgbClr val="222B3D"/>
                </a:solidFill>
                <a:latin typeface="Calibri"/>
              </a:rPr>
              <a:t>Classify candidate as SCO (→ indicator) or SDO (→ context); illegal STIX values rejected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60520" y="4489703"/>
            <a:ext cx="0" cy="109728"/>
          </a:xfrm>
          <a:prstGeom prst="line">
            <a:avLst/>
          </a:prstGeom>
          <a:ln w="15875">
            <a:solidFill>
              <a:srgbClr val="1F7A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5800" y="4581143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12700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5400" bIns="25400"/>
          <a:lstStyle/>
          <a:p>
            <a:pPr algn="l"/>
            <a:r>
              <a:rPr sz="1050" b="1">
                <a:solidFill>
                  <a:srgbClr val="1F7A6C"/>
                </a:solidFill>
                <a:latin typeface="Calibri"/>
              </a:rPr>
              <a:t>Layer 3 — False-positive screening</a:t>
            </a:r>
          </a:p>
          <a:p>
            <a:pPr algn="l"/>
            <a:r>
              <a:rPr sz="900" b="0">
                <a:solidFill>
                  <a:srgbClr val="222B3D"/>
                </a:solidFill>
                <a:latin typeface="Calibri"/>
              </a:rPr>
              <a:t>Allowlist match (exact / CIDR / wildcard) + report self-reference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60520" y="5038343"/>
            <a:ext cx="0" cy="109728"/>
          </a:xfrm>
          <a:prstGeom prst="line">
            <a:avLst/>
          </a:prstGeom>
          <a:ln w="15875">
            <a:solidFill>
              <a:srgbClr val="1F7A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5800" y="5129783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12700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5400" bIns="25400"/>
          <a:lstStyle/>
          <a:p>
            <a:pPr algn="l"/>
            <a:r>
              <a:rPr sz="1050" b="1">
                <a:solidFill>
                  <a:srgbClr val="1F7A6C"/>
                </a:solidFill>
                <a:latin typeface="Calibri"/>
              </a:rPr>
              <a:t>Layer 4 — Dimension scoring</a:t>
            </a:r>
          </a:p>
          <a:p>
            <a:pPr algn="l"/>
            <a:r>
              <a:rPr sz="900" b="0">
                <a:solidFill>
                  <a:srgbClr val="222B3D"/>
                </a:solidFill>
                <a:latin typeface="Calibri"/>
              </a:rPr>
              <a:t>5 weighted dimensions (Timeliness, Accuracy, Completeness, Relevance, Consistency) → composite quality_score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714999"/>
            <a:ext cx="694944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B5563"/>
                </a:solidFill>
                <a:latin typeface="Calibri"/>
              </a:rPr>
              <a:t>Result: a scored, decided QualityReport held in memory — nothing written to the database yet.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18120" y="3081528"/>
            <a:ext cx="18288" cy="2843784"/>
          </a:xfrm>
          <a:prstGeom prst="rect">
            <a:avLst/>
          </a:prstGeom>
          <a:solidFill>
            <a:srgbClr val="C7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3136391"/>
            <a:ext cx="329184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07A1E"/>
                </a:solidFill>
                <a:latin typeface="Calibri"/>
              </a:rPr>
              <a:t>Data model — SQLite (7 tables)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3465575"/>
            <a:ext cx="329184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sources — one row per ingested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3739896"/>
            <a:ext cx="329184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raw_documents — archived original, sha256 UNIQUE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014215"/>
            <a:ext cx="329184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indicators — deduped IoCs, UNIQUE (ioc_type, normalised)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288536"/>
            <a:ext cx="329184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sightings — indicator × source, excerpt + offsets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4562855"/>
            <a:ext cx="329184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quality_flags — checker output, tagged by dimension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837175"/>
            <a:ext cx="329184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allowlist — known-benign values (MISP warninglist style)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5111495"/>
            <a:ext cx="329184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scoring_config — dimension weights, insert-only history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5440679"/>
            <a:ext cx="329184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B5563"/>
                </a:solidFill>
                <a:latin typeface="Calibri"/>
              </a:rPr>
              <a:t>persist_report() writes the already-scored rows, then raise_flags() attaches quality_flags to the indicator ids ingest just assigned.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93408"/>
            <a:ext cx="12191695" cy="18288"/>
          </a:xfrm>
          <a:prstGeom prst="rect">
            <a:avLst/>
          </a:prstGeom>
          <a:solidFill>
            <a:srgbClr val="C7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711696"/>
            <a:ext cx="868680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B5563"/>
                </a:solidFill>
                <a:latin typeface="Calibri"/>
              </a:rPr>
              <a:t>Extraction/ingest — Ben King   ·   Quality checker — Ethan McLachlan   ·   Data repo / export — Tyler Passey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6711696"/>
            <a:ext cx="2587752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4B5563"/>
                </a:solidFill>
                <a:latin typeface="Calibri"/>
              </a:rPr>
              <a:t>Python 3.12 · SQLAlchemy 2.0 · Alembic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6868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B263B"/>
                </a:solidFill>
                <a:latin typeface="Calibri"/>
              </a:rPr>
              <a:t>IoC Extractor Taxonomy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51560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B5563"/>
                </a:solidFill>
                <a:latin typeface="Calibri"/>
              </a:rPr>
              <a:t>5 categories, 31 extractor sub-types (ioc_extract_llm.py) — each maps to a STIX 2.1 Cyber-observable (SCO) or Domain Object (SDO)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82880"/>
            <a:ext cx="2953512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4B5563"/>
                </a:solidFill>
                <a:latin typeface="Calibri"/>
              </a:rPr>
              <a:t>ZEIT3118 Capstone · UNSW Canberra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2127443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2127443" cy="777240"/>
          </a:xfrm>
          <a:prstGeom prst="roundRect">
            <a:avLst>
              <a:gd name="adj" fmla="val 8000"/>
            </a:avLst>
          </a:prstGeom>
          <a:solidFill>
            <a:srgbClr val="2A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Network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18488"/>
            <a:ext cx="2127443" cy="393192"/>
          </a:xfrm>
          <a:prstGeom prst="rect">
            <a:avLst/>
          </a:prstGeom>
          <a:solidFill>
            <a:srgbClr val="2A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2084832"/>
            <a:ext cx="1907987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Infrastructure used for delivery, command-and-control, and communication.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" y="2679192"/>
            <a:ext cx="1907987" cy="384048"/>
          </a:xfrm>
          <a:prstGeom prst="roundRect">
            <a:avLst>
              <a:gd name="adj" fmla="val 8000"/>
            </a:avLst>
          </a:prstGeom>
          <a:solidFill>
            <a:srgbClr val="E9F1F8"/>
          </a:solidFill>
          <a:ln w="9525">
            <a:solidFill>
              <a:srgbClr val="2A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850" b="1">
                <a:solidFill>
                  <a:srgbClr val="2A5C8A"/>
                </a:solidFill>
                <a:latin typeface="Calibri"/>
              </a:rPr>
              <a:t>7 sub-types · all SCO (observable)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3191256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4B5563"/>
                </a:solidFill>
                <a:latin typeface="Calibri"/>
              </a:rPr>
              <a:t>SUB-TYPES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3429000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3653028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3877056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4101084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hostname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4325112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4549140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certificate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4773168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user_agent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21803" y="1234440"/>
            <a:ext cx="2127443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21803" y="1234440"/>
            <a:ext cx="2127443" cy="777240"/>
          </a:xfrm>
          <a:prstGeom prst="roundRect">
            <a:avLst>
              <a:gd name="adj" fmla="val 8000"/>
            </a:avLst>
          </a:prstGeom>
          <a:solidFill>
            <a:srgbClr val="A1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21803" y="1618488"/>
            <a:ext cx="2127443" cy="393192"/>
          </a:xfrm>
          <a:prstGeom prst="rect">
            <a:avLst/>
          </a:prstGeom>
          <a:solidFill>
            <a:srgbClr val="A1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1531" y="2084832"/>
            <a:ext cx="1907987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Artefacts left behind on a compromised endpoint.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1531" y="2679192"/>
            <a:ext cx="1907987" cy="384048"/>
          </a:xfrm>
          <a:prstGeom prst="roundRect">
            <a:avLst>
              <a:gd name="adj" fmla="val 8000"/>
            </a:avLst>
          </a:prstGeom>
          <a:solidFill>
            <a:srgbClr val="FAEBE6"/>
          </a:solidFill>
          <a:ln w="9525">
            <a:solidFill>
              <a:srgbClr val="A14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850" b="1">
                <a:solidFill>
                  <a:srgbClr val="A1472B"/>
                </a:solidFill>
                <a:latin typeface="Calibri"/>
              </a:rPr>
              <a:t>8 sub-types · 6 SCO, 2 unmapped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1531" y="3191256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4B5563"/>
                </a:solidFill>
                <a:latin typeface="Calibri"/>
              </a:rPr>
              <a:t>SUB-TYPES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1531" y="3429000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hash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1531" y="3653028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filename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1531" y="3877056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filepath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1531" y="4101084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registry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1531" y="4325112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mutex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1531" y="4549140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process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1531" y="4773168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1531" y="4997196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scheduled_task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32126" y="1234440"/>
            <a:ext cx="2127443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32126" y="1234440"/>
            <a:ext cx="2127443" cy="777240"/>
          </a:xfrm>
          <a:prstGeom prst="roundRect">
            <a:avLst>
              <a:gd name="adj" fmla="val 8000"/>
            </a:avLst>
          </a:prstGeom>
          <a:solidFill>
            <a:srgbClr val="5C3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Email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32126" y="1618488"/>
            <a:ext cx="2127443" cy="393192"/>
          </a:xfrm>
          <a:prstGeom prst="rect">
            <a:avLst/>
          </a:prstGeom>
          <a:solidFill>
            <a:srgbClr val="5C3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41854" y="2084832"/>
            <a:ext cx="1907987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Phishing and delivery-vector indicators.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41854" y="2679192"/>
            <a:ext cx="1907987" cy="384048"/>
          </a:xfrm>
          <a:prstGeom prst="roundRect">
            <a:avLst>
              <a:gd name="adj" fmla="val 8000"/>
            </a:avLst>
          </a:prstGeom>
          <a:solidFill>
            <a:srgbClr val="EFEAF7"/>
          </a:solidFill>
          <a:ln w="9525">
            <a:solidFill>
              <a:srgbClr val="5C3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850" b="1">
                <a:solidFill>
                  <a:srgbClr val="5C3D8A"/>
                </a:solidFill>
                <a:latin typeface="Calibri"/>
              </a:rPr>
              <a:t>5 sub-types · all SCO (observable)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41854" y="3191256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4B5563"/>
                </a:solidFill>
                <a:latin typeface="Calibri"/>
              </a:rPr>
              <a:t>SUB-TYPES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41854" y="3429000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email_address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41854" y="3653028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email_domain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41854" y="3877056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email_subject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41854" y="4101084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attachment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41854" y="4325112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email_header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42449" y="1234440"/>
            <a:ext cx="2127443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342449" y="1234440"/>
            <a:ext cx="2127443" cy="777240"/>
          </a:xfrm>
          <a:prstGeom prst="roundRect">
            <a:avLst>
              <a:gd name="adj" fmla="val 8000"/>
            </a:avLst>
          </a:prstGeom>
          <a:solidFill>
            <a:srgbClr val="1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Behaviour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42449" y="1618488"/>
            <a:ext cx="2127443" cy="393192"/>
          </a:xfrm>
          <a:prstGeom prst="rect">
            <a:avLst/>
          </a:prstGeom>
          <a:solidFill>
            <a:srgbClr val="1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52177" y="2084832"/>
            <a:ext cx="1907987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Attacker techniques observed in the report, not standalone artefacts.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52177" y="2679192"/>
            <a:ext cx="1907987" cy="384048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9525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850" b="1">
                <a:solidFill>
                  <a:srgbClr val="1F7A6C"/>
                </a:solidFill>
                <a:latin typeface="Calibri"/>
              </a:rPr>
              <a:t>5 sub-types · all SDO attack-pattern (context)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2177" y="3191256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4B5563"/>
                </a:solidFill>
                <a:latin typeface="Calibri"/>
              </a:rPr>
              <a:t>SUB-TYPES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52177" y="3429000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beaconing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2177" y="3653028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process_chain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2177" y="3877056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lateral_movement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2177" y="4101084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persistence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2177" y="4325112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exfiltration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52772" y="1234440"/>
            <a:ext cx="2127443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652772" y="1234440"/>
            <a:ext cx="2127443" cy="777240"/>
          </a:xfrm>
          <a:prstGeom prst="roundRect">
            <a:avLst>
              <a:gd name="adj" fmla="val 8000"/>
            </a:avLst>
          </a:prstGeom>
          <a:solidFill>
            <a:srgbClr val="B0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52772" y="1618488"/>
            <a:ext cx="2127443" cy="393192"/>
          </a:xfrm>
          <a:prstGeom prst="rect">
            <a:avLst/>
          </a:prstGeom>
          <a:solidFill>
            <a:srgbClr val="B0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62500" y="2084832"/>
            <a:ext cx="1907987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Attribution and context entities that describe the report, not the wire.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762500" y="2679192"/>
            <a:ext cx="1907987" cy="384048"/>
          </a:xfrm>
          <a:prstGeom prst="roundRect">
            <a:avLst>
              <a:gd name="adj" fmla="val 8000"/>
            </a:avLst>
          </a:prstGeom>
          <a:solidFill>
            <a:srgbClr val="FBF2E2"/>
          </a:solidFill>
          <a:ln w="9525">
            <a:solidFill>
              <a:srgbClr val="B0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850" b="1">
                <a:solidFill>
                  <a:srgbClr val="B07A1E"/>
                </a:solidFill>
                <a:latin typeface="Calibri"/>
              </a:rPr>
              <a:t>6 sub-types · all SDO (context-only)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62500" y="3191256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4B5563"/>
                </a:solidFill>
                <a:latin typeface="Calibri"/>
              </a:rPr>
              <a:t>SUB-TYPES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62500" y="3429000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malware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62500" y="3653028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threat_actor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62500" y="3877056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campaign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62500" y="4101084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tool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62500" y="4325112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vulnerability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62500" y="4549140"/>
            <a:ext cx="190798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222B3D"/>
                </a:solidFill>
                <a:latin typeface="Calibri"/>
              </a:rPr>
              <a:t>•  ttp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693408"/>
            <a:ext cx="12191695" cy="18288"/>
          </a:xfrm>
          <a:prstGeom prst="rect">
            <a:avLst/>
          </a:prstGeom>
          <a:solidFill>
            <a:srgbClr val="C7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6711696"/>
            <a:ext cx="868680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B5563"/>
                </a:solidFill>
                <a:latin typeface="Calibri"/>
              </a:rPr>
              <a:t>SCO = STIX Cyber-observable Object (becomes an indicator)   ·   SDO = STIX Domain Object (becomes context)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0" y="6711696"/>
            <a:ext cx="2587752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4B5563"/>
                </a:solidFill>
                <a:latin typeface="Calibri"/>
              </a:rPr>
              <a:t>STIX 2.1 · ZEIT3118 Capstone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A5C8A"/>
                </a:solidFill>
                <a:latin typeface="Calibri"/>
              </a:rPr>
              <a:t>Network IoCs — Extractor Taxonomy → STIX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Calibri"/>
              </a:rPr>
              <a:t>Infrastructure used for delivery, command-and-control, and communication.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201168"/>
            <a:ext cx="2679192" cy="457200"/>
          </a:xfrm>
          <a:prstGeom prst="roundRect">
            <a:avLst>
              <a:gd name="adj" fmla="val 8000"/>
            </a:avLst>
          </a:prstGeom>
          <a:solidFill>
            <a:srgbClr val="E9F1F8"/>
          </a:solidFill>
          <a:ln w="12700">
            <a:solidFill>
              <a:srgbClr val="2A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A5C8A"/>
                </a:solidFill>
                <a:latin typeface="Calibri"/>
              </a:rPr>
              <a:t>7 sub-types · all SCO (observable)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4552" cy="53492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3063240"/>
                <a:gridCol w="1783080"/>
                <a:gridCol w="473659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Extractor sub-type</a:t>
                      </a:r>
                    </a:p>
                  </a:txBody>
                  <a:tcPr anchor="ctr" marL="101600" marR="101600" marT="25400" marB="25400">
                    <a:solidFill>
                      <a:srgbClr val="2A5C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STIX 2.1 mapping</a:t>
                      </a:r>
                    </a:p>
                  </a:txBody>
                  <a:tcPr anchor="ctr" marL="101600" marR="101600" marT="25400" marB="25400">
                    <a:solidFill>
                      <a:srgbClr val="2A5C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Kind → Decision</a:t>
                      </a:r>
                    </a:p>
                  </a:txBody>
                  <a:tcPr anchor="ctr" marL="101600" marR="101600" marT="25400" marB="25400">
                    <a:solidFill>
                      <a:srgbClr val="2A5C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anchor="ctr" marL="101600" marR="101600" marT="25400" marB="25400">
                    <a:solidFill>
                      <a:srgbClr val="2A5C8A"/>
                    </a:solidFill>
                  </a:tcPr>
                </a:tc>
              </a:tr>
              <a:tr h="69886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ip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ipv4-addr | ipv6-addr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SCO → Indicator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Split into ipv4 / ipv6 by the ip_version attribute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domain-name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SCO → Indicator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Validated as a legal domain-name label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</a:tr>
              <a:tr h="69886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url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url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SCO → Indicator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Must be http/https with a resolvable host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hostname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domain-name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SCO → Indicator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Shares the domain-name observable with domain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</a:tr>
              <a:tr h="69886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port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network-traffic:dst_port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SCO → Indicator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No standalone SCO — embedded in network-traffic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certificate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x509-certificate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SCO → Indicator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X.509 certificate observable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</a:tr>
              <a:tr h="69886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user_agent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network-traffic:extensions.http-request-ext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SCO → Indicator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Embedded as an HTTP request extension, not its own object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93408"/>
            <a:ext cx="12191695" cy="18288"/>
          </a:xfrm>
          <a:prstGeom prst="rect">
            <a:avLst/>
          </a:prstGeom>
          <a:solidFill>
            <a:srgbClr val="C7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711696"/>
            <a:ext cx="868680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B5563"/>
                </a:solidFill>
                <a:latin typeface="Calibri"/>
              </a:rPr>
              <a:t>Extractor sub-type = threatlens.extractors.ioc_extract_llm.IndicatorType   ·   Kind/Decision = quality_checker.classify_stix() + _decide()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711696"/>
            <a:ext cx="2587752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4B5563"/>
                </a:solidFill>
                <a:latin typeface="Calibri"/>
              </a:rPr>
              <a:t>STIX 2.1 · ZEIT3118 Capstone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1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A1472B"/>
                </a:solidFill>
                <a:latin typeface="Calibri"/>
              </a:rPr>
              <a:t>Host IoCs — Extractor Taxonomy → STIX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Calibri"/>
              </a:rPr>
              <a:t>Artefacts left behind on a compromised endpoint.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201168"/>
            <a:ext cx="2679192" cy="457200"/>
          </a:xfrm>
          <a:prstGeom prst="roundRect">
            <a:avLst>
              <a:gd name="adj" fmla="val 8000"/>
            </a:avLst>
          </a:prstGeom>
          <a:solidFill>
            <a:srgbClr val="FAEBE6"/>
          </a:solidFill>
          <a:ln w="12700">
            <a:solidFill>
              <a:srgbClr val="A14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A1472B"/>
                </a:solidFill>
                <a:latin typeface="Calibri"/>
              </a:rPr>
              <a:t>8 sub-types · 6 SCO, 2 unmapped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4552" cy="5349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3063240"/>
                <a:gridCol w="1783080"/>
                <a:gridCol w="473659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Extractor sub-type</a:t>
                      </a:r>
                    </a:p>
                  </a:txBody>
                  <a:tcPr anchor="ctr" marL="101600" marR="101600" marT="25400" marB="25400">
                    <a:solidFill>
                      <a:srgbClr val="A147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STIX 2.1 mapping</a:t>
                      </a:r>
                    </a:p>
                  </a:txBody>
                  <a:tcPr anchor="ctr" marL="101600" marR="101600" marT="25400" marB="25400">
                    <a:solidFill>
                      <a:srgbClr val="A147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Kind → Decision</a:t>
                      </a:r>
                    </a:p>
                  </a:txBody>
                  <a:tcPr anchor="ctr" marL="101600" marR="101600" marT="25400" marB="25400">
                    <a:solidFill>
                      <a:srgbClr val="A147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anchor="ctr" marL="101600" marR="101600" marT="25400" marB="25400">
                    <a:solidFill>
                      <a:srgbClr val="A1472B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hash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file:hashes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SCO → Indicator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Algorithm (md5/sha1/sha256/sha512) inferred from digest length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filename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file:name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SCO → Indicator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Distinct SCO property from filepath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filepath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file:name | directory:path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SCO → Indicator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.php "domains" caught by filename-containment, not a TLD list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registry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windows-registry-key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SCO → Indicator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Windows-specific artefact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mutex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mutex:name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SCO → Indicator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Named synchronisation object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process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process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SCO → Indicator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Running process observable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— (unmapped)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None → Rejected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Extracted as free text; cannot form a legal STIX pattern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scheduled_task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— (unmapped)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None → Rejected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Not yet given a STIX mapping — open scope question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93408"/>
            <a:ext cx="12191695" cy="18288"/>
          </a:xfrm>
          <a:prstGeom prst="rect">
            <a:avLst/>
          </a:prstGeom>
          <a:solidFill>
            <a:srgbClr val="C7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711696"/>
            <a:ext cx="868680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B5563"/>
                </a:solidFill>
                <a:latin typeface="Calibri"/>
              </a:rPr>
              <a:t>Extractor sub-type = threatlens.extractors.ioc_extract_llm.IndicatorType   ·   Kind/Decision = quality_checker.classify_stix() + _decide()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711696"/>
            <a:ext cx="2587752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4B5563"/>
                </a:solidFill>
                <a:latin typeface="Calibri"/>
              </a:rPr>
              <a:t>STIX 2.1 · ZEIT3118 Capstone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C3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5C3D8A"/>
                </a:solidFill>
                <a:latin typeface="Calibri"/>
              </a:rPr>
              <a:t>Email IoCs — Extractor Taxonomy → STIX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Calibri"/>
              </a:rPr>
              <a:t>Phishing and delivery-vector indicators.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201168"/>
            <a:ext cx="2679192" cy="457200"/>
          </a:xfrm>
          <a:prstGeom prst="roundRect">
            <a:avLst>
              <a:gd name="adj" fmla="val 8000"/>
            </a:avLst>
          </a:prstGeom>
          <a:solidFill>
            <a:srgbClr val="EFEAF7"/>
          </a:solidFill>
          <a:ln w="12700">
            <a:solidFill>
              <a:srgbClr val="5C3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C3D8A"/>
                </a:solidFill>
                <a:latin typeface="Calibri"/>
              </a:rPr>
              <a:t>5 sub-types · all SCO (observable)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274552" cy="4343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3063240"/>
                <a:gridCol w="1783080"/>
                <a:gridCol w="473659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Extractor sub-type</a:t>
                      </a:r>
                    </a:p>
                  </a:txBody>
                  <a:tcPr anchor="ctr" marL="101600" marR="101600" marT="25400" marB="25400">
                    <a:solidFill>
                      <a:srgbClr val="5C3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STIX 2.1 mapping</a:t>
                      </a:r>
                    </a:p>
                  </a:txBody>
                  <a:tcPr anchor="ctr" marL="101600" marR="101600" marT="25400" marB="25400">
                    <a:solidFill>
                      <a:srgbClr val="5C3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Kind → Decision</a:t>
                      </a:r>
                    </a:p>
                  </a:txBody>
                  <a:tcPr anchor="ctr" marL="101600" marR="101600" marT="25400" marB="25400">
                    <a:solidFill>
                      <a:srgbClr val="5C3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anchor="ctr" marL="101600" marR="101600" marT="25400" marB="25400">
                    <a:solidFill>
                      <a:srgbClr val="5C3D8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email_address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email-addr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SCO → Indicator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Sender / recipient address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email_domain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domain-name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SCO → Indicator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Shares the domain-name observable with domain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email_subject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email-message:subject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SCO → Indicator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Subject line as a message property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attachment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file:name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SCO → Indicator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Shares file:name with filename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email_header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email-message:additional_header_fields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SCO → Indicator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Arbitrary header field, e.g. Received / X-Mailer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93408"/>
            <a:ext cx="12191695" cy="18288"/>
          </a:xfrm>
          <a:prstGeom prst="rect">
            <a:avLst/>
          </a:prstGeom>
          <a:solidFill>
            <a:srgbClr val="C7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711696"/>
            <a:ext cx="868680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B5563"/>
                </a:solidFill>
                <a:latin typeface="Calibri"/>
              </a:rPr>
              <a:t>Extractor sub-type = threatlens.extractors.ioc_extract_llm.IndicatorType   ·   Kind/Decision = quality_checker.classify_stix() + _decide()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711696"/>
            <a:ext cx="2587752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4B5563"/>
                </a:solidFill>
                <a:latin typeface="Calibri"/>
              </a:rPr>
              <a:t>STIX 2.1 · ZEIT3118 Capstone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7A6C"/>
                </a:solidFill>
                <a:latin typeface="Calibri"/>
              </a:rPr>
              <a:t>Behaviour IoCs — Extractor Taxonomy → STIX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Calibri"/>
              </a:rPr>
              <a:t>Attacker techniques observed in the report, not standalone artefacts.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201168"/>
            <a:ext cx="2679192" cy="457200"/>
          </a:xfrm>
          <a:prstGeom prst="roundRect">
            <a:avLst>
              <a:gd name="adj" fmla="val 8000"/>
            </a:avLst>
          </a:prstGeom>
          <a:solidFill>
            <a:srgbClr val="E7F4F1"/>
          </a:solidFill>
          <a:ln w="12700">
            <a:solidFill>
              <a:srgbClr val="1F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7A6C"/>
                </a:solidFill>
                <a:latin typeface="Calibri"/>
              </a:rPr>
              <a:t>5 sub-types · all SDO attack-pattern (context)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274552" cy="4343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3063240"/>
                <a:gridCol w="1783080"/>
                <a:gridCol w="473659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Extractor sub-type</a:t>
                      </a:r>
                    </a:p>
                  </a:txBody>
                  <a:tcPr anchor="ctr" marL="101600" marR="101600" marT="25400" marB="25400">
                    <a:solidFill>
                      <a:srgbClr val="1F7A6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STIX 2.1 mapping</a:t>
                      </a:r>
                    </a:p>
                  </a:txBody>
                  <a:tcPr anchor="ctr" marL="101600" marR="101600" marT="25400" marB="25400">
                    <a:solidFill>
                      <a:srgbClr val="1F7A6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Kind → Decision</a:t>
                      </a:r>
                    </a:p>
                  </a:txBody>
                  <a:tcPr anchor="ctr" marL="101600" marR="101600" marT="25400" marB="25400">
                    <a:solidFill>
                      <a:srgbClr val="1F7A6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anchor="ctr" marL="101600" marR="101600" marT="25400" marB="25400">
                    <a:solidFill>
                      <a:srgbClr val="1F7A6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beaconing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attack-pattern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SDO → Context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Describes a technique, not an artefact — no observable value to store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process_chain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attack-pattern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SDO → Context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Parent → child execution sequence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lateral_movement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attack-pattern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SDO → Context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Movement between compromised hosts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persistence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attack-pattern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SDO → Context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How the attacker maintains access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exfiltration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attack-pattern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SDO → Context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Data leaving the environment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93408"/>
            <a:ext cx="12191695" cy="18288"/>
          </a:xfrm>
          <a:prstGeom prst="rect">
            <a:avLst/>
          </a:prstGeom>
          <a:solidFill>
            <a:srgbClr val="C7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711696"/>
            <a:ext cx="868680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B5563"/>
                </a:solidFill>
                <a:latin typeface="Calibri"/>
              </a:rPr>
              <a:t>Extractor sub-type = threatlens.extractors.ioc_extract_llm.IndicatorType   ·   Kind/Decision = quality_checker.classify_stix() + _decide()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711696"/>
            <a:ext cx="2587752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4B5563"/>
                </a:solidFill>
                <a:latin typeface="Calibri"/>
              </a:rPr>
              <a:t>STIX 2.1 · ZEIT3118 Capstone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0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B07A1E"/>
                </a:solidFill>
                <a:latin typeface="Calibri"/>
              </a:rPr>
              <a:t>Intelligence IoCs — Extractor Taxonomy → STIX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Calibri"/>
              </a:rPr>
              <a:t>Attribution and context entities that describe the report, not the wire.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201168"/>
            <a:ext cx="2679192" cy="457200"/>
          </a:xfrm>
          <a:prstGeom prst="roundRect">
            <a:avLst>
              <a:gd name="adj" fmla="val 8000"/>
            </a:avLst>
          </a:prstGeom>
          <a:solidFill>
            <a:srgbClr val="FBF2E2"/>
          </a:solidFill>
          <a:ln w="12700">
            <a:solidFill>
              <a:srgbClr val="B0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B07A1E"/>
                </a:solidFill>
                <a:latin typeface="Calibri"/>
              </a:rPr>
              <a:t>6 sub-types · all SDO (context-only)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03020"/>
          <a:ext cx="11274552" cy="5120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3063240"/>
                <a:gridCol w="1783080"/>
                <a:gridCol w="473659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Extractor sub-type</a:t>
                      </a:r>
                    </a:p>
                  </a:txBody>
                  <a:tcPr anchor="ctr" marL="101600" marR="101600" marT="25400" marB="25400">
                    <a:solidFill>
                      <a:srgbClr val="B07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STIX 2.1 mapping</a:t>
                      </a:r>
                    </a:p>
                  </a:txBody>
                  <a:tcPr anchor="ctr" marL="101600" marR="101600" marT="25400" marB="25400">
                    <a:solidFill>
                      <a:srgbClr val="B07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Kind → Decision</a:t>
                      </a:r>
                    </a:p>
                  </a:txBody>
                  <a:tcPr anchor="ctr" marL="101600" marR="101600" marT="25400" marB="25400">
                    <a:solidFill>
                      <a:srgbClr val="B07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anchor="ctr" marL="101600" marR="101600" marT="25400" marB="25400">
                    <a:solidFill>
                      <a:srgbClr val="B07A1E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malware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malware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SDO → Context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Folded into indicators.context, not stored as its own row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threat_actor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threat-actor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SDO → Context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e.g. TA422 / APT28 / Fancy Bear — alias resolution is manual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campaign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campaign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SDO → Context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A coordinated malicious operation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SDO → Context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Legitimate or offensive tool observed in use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vulnerability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vulnerability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SDO → Context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A CVE or exploited weakness</a:t>
                      </a:r>
                    </a:p>
                  </a:txBody>
                  <a:tcPr anchor="ctr" marL="101600" marR="101600" marT="25400" marB="25400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B3D"/>
                          </a:solidFill>
                          <a:latin typeface="Calibri"/>
                        </a:rPr>
                        <a:t>ttp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attack-pattern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SDO → Context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B3D"/>
                          </a:solidFill>
                          <a:latin typeface="Calibri"/>
                        </a:rPr>
                        <a:t>Shares attack-pattern with the Behaviour category</a:t>
                      </a:r>
                    </a:p>
                  </a:txBody>
                  <a:tcPr anchor="ctr" marL="101600" marR="101600" marT="25400" marB="25400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93408"/>
            <a:ext cx="12191695" cy="18288"/>
          </a:xfrm>
          <a:prstGeom prst="rect">
            <a:avLst/>
          </a:prstGeom>
          <a:solidFill>
            <a:srgbClr val="C7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711696"/>
            <a:ext cx="868680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B5563"/>
                </a:solidFill>
                <a:latin typeface="Calibri"/>
              </a:rPr>
              <a:t>Extractor sub-type = threatlens.extractors.ioc_extract_llm.IndicatorType   ·   Kind/Decision = quality_checker.classify_stix() + _decide()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711696"/>
            <a:ext cx="2587752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4B5563"/>
                </a:solidFill>
                <a:latin typeface="Calibri"/>
              </a:rPr>
              <a:t>STIX 2.1 · ZEIT3118 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